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unagari Saikrishna" userId="2b69e961bea8d17b" providerId="LiveId" clId="{0AC023FC-CBE1-4688-929F-07514113A54C}"/>
    <pc:docChg chg="undo custSel modSld">
      <pc:chgData name="Thirunagari Saikrishna" userId="2b69e961bea8d17b" providerId="LiveId" clId="{0AC023FC-CBE1-4688-929F-07514113A54C}" dt="2026-09-28T08:30:38.959" v="205" actId="20577"/>
      <pc:docMkLst>
        <pc:docMk/>
      </pc:docMkLst>
      <pc:sldChg chg="addSp delSp modSp mod">
        <pc:chgData name="Thirunagari Saikrishna" userId="2b69e961bea8d17b" providerId="LiveId" clId="{0AC023FC-CBE1-4688-929F-07514113A54C}" dt="2026-09-28T08:30:38.959" v="205" actId="20577"/>
        <pc:sldMkLst>
          <pc:docMk/>
          <pc:sldMk cId="0" sldId="256"/>
        </pc:sldMkLst>
        <pc:spChg chg="del">
          <ac:chgData name="Thirunagari Saikrishna" userId="2b69e961bea8d17b" providerId="LiveId" clId="{0AC023FC-CBE1-4688-929F-07514113A54C}" dt="2026-09-28T08:30:20.415" v="165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Thirunagari Saikrishna" userId="2b69e961bea8d17b" providerId="LiveId" clId="{0AC023FC-CBE1-4688-929F-07514113A54C}" dt="2026-09-28T08:30:15.085" v="164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Thirunagari Saikrishna" userId="2b69e961bea8d17b" providerId="LiveId" clId="{0AC023FC-CBE1-4688-929F-07514113A54C}" dt="2026-09-28T08:30:38.959" v="205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Thirunagari Saikrishna" userId="2b69e961bea8d17b" providerId="LiveId" clId="{0AC023FC-CBE1-4688-929F-07514113A54C}" dt="2026-09-28T08:26:06.386" v="2" actId="1036"/>
        <pc:sldMkLst>
          <pc:docMk/>
          <pc:sldMk cId="0" sldId="273"/>
        </pc:sldMkLst>
        <pc:spChg chg="mod">
          <ac:chgData name="Thirunagari Saikrishna" userId="2b69e961bea8d17b" providerId="LiveId" clId="{0AC023FC-CBE1-4688-929F-07514113A54C}" dt="2026-09-28T08:26:06.386" v="2" actId="1036"/>
          <ac:spMkLst>
            <pc:docMk/>
            <pc:sldMk cId="0" sldId="273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49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8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II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Estate</a:t>
            </a:r>
            <a:r>
              <a:rPr lang="en-US" sz="5200" b="1" dirty="0">
                <a:solidFill>
                  <a:srgbClr val="B98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Real Estate Platform for the Hyderabad Property Market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743200"/>
            <a:ext cx="7772400" cy="0"/>
          </a:xfrm>
          <a:prstGeom prst="line">
            <a:avLst/>
          </a:prstGeom>
          <a:noFill/>
          <a:ln w="12700">
            <a:solidFill>
              <a:srgbClr val="B98F4B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82296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8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0670" y="33375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Krishna – 2520090156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Navaneeth – 2520090218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 – 2520090099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86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3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[Gayathri]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3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[CS/IT]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r>
              <a:rPr lang="en-US" sz="13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23444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1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EstateX is a web-based real estate platform that centralizes property listings, agent contact, and decision-support tools for buyers and renters in Hyderabad.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addressed: property search in the city is fragmented across unregulated sources, with no listing verification and no way to check affordability upfront.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 single, responsive platform offering verified listings, structured search and filters, direct agent communication, and a built-in EMI calculator.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used: React.js for the frontend; a relational database (MySQL / PostgreSQL) is proposed for the backend.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status: frontend UI and core pages are implemented; backend API and database integration are the next phase.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a faster, more trustworthy property search experience that reduces dependency on unregulated brokers.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1520" y="534924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5349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Platform, Property Search, React.js, Responsive Web Design, Relational Database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234440"/>
            <a:ext cx="10698480" cy="795528"/>
          </a:xfrm>
          <a:prstGeom prst="roundRect">
            <a:avLst>
              <a:gd name="adj" fmla="val 9195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23444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existing problem?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234440"/>
            <a:ext cx="6766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 across Hyderabad are scattered across unregulated brokers, classifieds, and word of mouth, with no single reliable source.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106984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19456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194560"/>
            <a:ext cx="6766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Buyers, renters, and first-time home seekers — especially those unfamiliar with specific localities.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3154680"/>
            <a:ext cx="10698480" cy="795528"/>
          </a:xfrm>
          <a:prstGeom prst="roundRect">
            <a:avLst>
              <a:gd name="adj" fmla="val 9195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15468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need solving?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154680"/>
            <a:ext cx="6766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users time, exposes them to unverified information, and slows down genuine transactions.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4114800"/>
            <a:ext cx="1069848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411480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approaches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114800"/>
            <a:ext cx="6766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site visits are needed before any real information is available, and no tools exist to check affordability upfront.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5074920"/>
            <a:ext cx="10698480" cy="795528"/>
          </a:xfrm>
          <a:prstGeom prst="roundRect">
            <a:avLst>
              <a:gd name="adj" fmla="val 9195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507492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problem definition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5074920"/>
            <a:ext cx="6766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centralized, verified, and easy-to-navigate platform that connects property seekers directly with agents and listings.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8470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Hyderabad's real estate market is growing quickly, but the tools available to search it haven't kept pace.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280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importance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18470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smoother property search directly affects one of the largest financial decisions a family makes.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718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136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 better approach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35387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need for an organized, technology-driven solution instead of manual, broker-dependent processes.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26480" y="29718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3136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35387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saved, greater trust in listings, and more informed decisions before a single site visit.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66344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621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0120" y="48280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relevance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523036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academic learning in full-stack web development with a problem of genuine industrial and social value.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54480" y="137160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verified property listings across Hyderabad's key localities.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554480" y="251460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2880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5146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search using structured filters for location, property type, and budget.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554480" y="365760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2880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6576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direct communication between users and agents.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554480" y="480060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28800" y="4800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48006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supporting tools such as EMI estimation and virtual tours.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758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as a survey of existing real estate platforms, since EstateX is a software system rather than a research algorithm.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35661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(Est.)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99acres (2005)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aggregation + paid promotion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Pan-India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inventory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verification, cluttered 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MagicBricks (2006)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+ broker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Pan-India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brand trust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ads, slow search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NoBroker (2014)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Broker-free, direct owner listings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metros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brokerage fees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coverage in Tier-2 Hyderabad areas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Housing.com (2012)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+ price trend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Pan-India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Data-rich price insights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Overwhelming filters for first-time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platform websites and publicly available product information (see References, Slide 24).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mix verified and unverified listings without a clear distinction for the user.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filters are often generic and not tuned to specific localities within a single city like Hyderabad.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platforms combine listings with decision-support tools, such as an EMI calculator, in the same flow.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tours and direct agent contact are inconsistently available across platforms.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lack of a lightweight, locality-first experience built specifically around one city's market.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1621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8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surveyed platforms, verification, locality-specific search, and financial decision tools exist only in fragments — no single platform combines them into one streamlined flow for a specific city's buyers and renters. EstateX is designed to close that gap for the Hyderabad market.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99516" y="1371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AF7F1"/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" y="13716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00300" y="1764792"/>
            <a:ext cx="118872" cy="118872"/>
          </a:xfrm>
          <a:prstGeom prst="rightArrow">
            <a:avLst/>
          </a:prstGeom>
          <a:solidFill>
            <a:srgbClr val="93702F"/>
          </a:solidFill>
          <a:ln/>
        </p:spPr>
      </p:sp>
      <p:sp>
        <p:nvSpPr>
          <p:cNvPr id="9" name="Shape 6"/>
          <p:cNvSpPr/>
          <p:nvPr/>
        </p:nvSpPr>
        <p:spPr>
          <a:xfrm>
            <a:off x="2519172" y="1371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92324" y="13716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19956" y="1764792"/>
            <a:ext cx="118872" cy="118872"/>
          </a:xfrm>
          <a:prstGeom prst="rightArrow">
            <a:avLst/>
          </a:prstGeom>
          <a:solidFill>
            <a:srgbClr val="93702F"/>
          </a:solidFill>
          <a:ln/>
        </p:spPr>
      </p:sp>
      <p:sp>
        <p:nvSpPr>
          <p:cNvPr id="12" name="Shape 9"/>
          <p:cNvSpPr/>
          <p:nvPr/>
        </p:nvSpPr>
        <p:spPr>
          <a:xfrm>
            <a:off x="4338828" y="1371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AF7F1"/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11980" y="13716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Matching Logic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9612" y="1764792"/>
            <a:ext cx="118872" cy="118872"/>
          </a:xfrm>
          <a:prstGeom prst="rightArrow">
            <a:avLst/>
          </a:prstGeom>
          <a:solidFill>
            <a:srgbClr val="93702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58484" y="1371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31636" y="13716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(Rendering &amp; Ranking)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859268" y="1764792"/>
            <a:ext cx="118872" cy="118872"/>
          </a:xfrm>
          <a:prstGeom prst="rightArrow">
            <a:avLst/>
          </a:prstGeom>
          <a:solidFill>
            <a:srgbClr val="93702F"/>
          </a:solidFill>
          <a:ln/>
        </p:spPr>
      </p:sp>
      <p:sp>
        <p:nvSpPr>
          <p:cNvPr id="18" name="Shape 15"/>
          <p:cNvSpPr/>
          <p:nvPr/>
        </p:nvSpPr>
        <p:spPr>
          <a:xfrm>
            <a:off x="7978140" y="1371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AF7F1"/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51292" y="13716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(Listings)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78924" y="1764792"/>
            <a:ext cx="118872" cy="118872"/>
          </a:xfrm>
          <a:prstGeom prst="rightArrow">
            <a:avLst/>
          </a:prstGeom>
          <a:solidFill>
            <a:srgbClr val="93702F"/>
          </a:solidFill>
          <a:ln/>
        </p:spPr>
      </p:sp>
      <p:sp>
        <p:nvSpPr>
          <p:cNvPr id="21" name="Shape 18"/>
          <p:cNvSpPr/>
          <p:nvPr/>
        </p:nvSpPr>
        <p:spPr>
          <a:xfrm>
            <a:off x="9797796" y="1371600"/>
            <a:ext cx="16916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70948" y="13716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2651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criteria entered by the user — location, property type, budget, and listing type (buy/rent).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31520" y="3273552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33467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017520" y="334670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locality standardization, and price/unit normalization applied before matching.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31520" y="3968496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40416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/ model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017520" y="404164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search and matching logic (not a trained model) that filters and ranks listings against user criteria.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1520" y="4663440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47365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017520" y="4736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results are rendered as listing cards and detail views.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31520" y="5358384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43153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3017520" y="54315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filtered, ranked set of property listings with agent contact options.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2619756" y="1280160"/>
            <a:ext cx="6949440" cy="713232"/>
          </a:xfrm>
          <a:prstGeom prst="roundRect">
            <a:avLst>
              <a:gd name="adj" fmla="val 8974"/>
            </a:avLst>
          </a:prstGeom>
          <a:solidFill>
            <a:srgbClr val="B98F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894076" y="13533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/ Input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894076" y="1645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form, filters, and inquiry actions from the browser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4748" y="2011680"/>
            <a:ext cx="219456" cy="219456"/>
          </a:xfrm>
          <a:prstGeom prst="downArrow">
            <a:avLst/>
          </a:prstGeom>
          <a:solidFill>
            <a:srgbClr val="93702F"/>
          </a:solidFill>
          <a:ln/>
        </p:spPr>
      </p:sp>
      <p:sp>
        <p:nvSpPr>
          <p:cNvPr id="10" name="Shape 7"/>
          <p:cNvSpPr/>
          <p:nvPr/>
        </p:nvSpPr>
        <p:spPr>
          <a:xfrm>
            <a:off x="2619756" y="2267712"/>
            <a:ext cx="6949440" cy="713232"/>
          </a:xfrm>
          <a:prstGeom prst="roundRect">
            <a:avLst>
              <a:gd name="adj" fmla="val 8974"/>
            </a:avLst>
          </a:prstGeom>
          <a:solidFill>
            <a:srgbClr val="2A365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894076" y="23408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2894076" y="26334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— UI components, search, property listings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4748" y="2999232"/>
            <a:ext cx="219456" cy="219456"/>
          </a:xfrm>
          <a:prstGeom prst="downArrow">
            <a:avLst/>
          </a:prstGeom>
          <a:solidFill>
            <a:srgbClr val="93702F"/>
          </a:solidFill>
          <a:ln/>
        </p:spPr>
      </p:sp>
      <p:sp>
        <p:nvSpPr>
          <p:cNvPr id="14" name="Shape 11"/>
          <p:cNvSpPr/>
          <p:nvPr/>
        </p:nvSpPr>
        <p:spPr>
          <a:xfrm>
            <a:off x="2619756" y="3255264"/>
            <a:ext cx="6949440" cy="713232"/>
          </a:xfrm>
          <a:prstGeom prst="roundRect">
            <a:avLst>
              <a:gd name="adj" fmla="val 8974"/>
            </a:avLst>
          </a:prstGeom>
          <a:solidFill>
            <a:srgbClr val="2A365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894076" y="33284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 (proposed)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2894076" y="36210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to handle business logic and requests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4748" y="3986784"/>
            <a:ext cx="219456" cy="219456"/>
          </a:xfrm>
          <a:prstGeom prst="downArrow">
            <a:avLst/>
          </a:prstGeom>
          <a:solidFill>
            <a:srgbClr val="93702F"/>
          </a:solidFill>
          <a:ln/>
        </p:spPr>
      </p:sp>
      <p:sp>
        <p:nvSpPr>
          <p:cNvPr id="18" name="Shape 15"/>
          <p:cNvSpPr/>
          <p:nvPr/>
        </p:nvSpPr>
        <p:spPr>
          <a:xfrm>
            <a:off x="2619756" y="4242816"/>
            <a:ext cx="6949440" cy="713232"/>
          </a:xfrm>
          <a:prstGeom prst="roundRect">
            <a:avLst>
              <a:gd name="adj" fmla="val 8974"/>
            </a:avLst>
          </a:prstGeom>
          <a:solidFill>
            <a:srgbClr val="1621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94076" y="43159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(proposed)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2894076" y="46085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users, properties, agents, and activity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4748" y="4974336"/>
            <a:ext cx="219456" cy="219456"/>
          </a:xfrm>
          <a:prstGeom prst="downArrow">
            <a:avLst/>
          </a:prstGeom>
          <a:solidFill>
            <a:srgbClr val="93702F"/>
          </a:solidFill>
          <a:ln/>
        </p:spPr>
      </p:sp>
      <p:sp>
        <p:nvSpPr>
          <p:cNvPr id="22" name="Shape 19"/>
          <p:cNvSpPr/>
          <p:nvPr/>
        </p:nvSpPr>
        <p:spPr>
          <a:xfrm>
            <a:off x="2619756" y="5230368"/>
            <a:ext cx="6949440" cy="713232"/>
          </a:xfrm>
          <a:prstGeom prst="roundRect">
            <a:avLst>
              <a:gd name="adj" fmla="val 8974"/>
            </a:avLst>
          </a:prstGeom>
          <a:solidFill>
            <a:srgbClr val="16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894076" y="53035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2894076" y="5596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listings, property details, and agent contact confirmations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implemented: presentation layer (React.js). Application and data layers are proposed for the next phase.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417320"/>
            <a:ext cx="10698480" cy="612648"/>
          </a:xfrm>
          <a:prstGeom prst="roundRect">
            <a:avLst>
              <a:gd name="adj" fmla="val 1194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417320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417320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(React.js)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167128"/>
            <a:ext cx="106984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167128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2167128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frontend (implemented)   |   Node.js / Express — backend (proposed)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916936"/>
            <a:ext cx="10698480" cy="612648"/>
          </a:xfrm>
          <a:prstGeom prst="roundRect">
            <a:avLst>
              <a:gd name="adj" fmla="val 1194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2916936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916936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or PostgreSQL (proposed)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3666744"/>
            <a:ext cx="106984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3666744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3666744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Router, custom CSS3 (no UI framework dependency)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4416552"/>
            <a:ext cx="10698480" cy="612648"/>
          </a:xfrm>
          <a:prstGeom prst="roundRect">
            <a:avLst>
              <a:gd name="adj" fmla="val 11940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4416552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4416552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GitHub, Figma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5166360"/>
            <a:ext cx="106984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5166360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840480" y="5166360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development — Windows / Linux / macOS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Details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758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as "Property Listing Data" — EstateX works from listing records, not a trained-model dataset.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name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886200" y="1600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Hyderabad property listings (curated for the prototype)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30552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2219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source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22219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compiled sample listings representing key localities (Gachibowli, Kokapet, Kondapur, etc.)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752344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8437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records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28437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number] sample listings used in the current prototype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374136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655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features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34655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fields per listing (title, type, price, locality, bedrooms, bathrooms, area, images, agent, status)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3995928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087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/ testing / validation split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886200" y="4087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EstateX is a rule-based platform, not a trained ML model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4617720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parameters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886200" y="4709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property type, budget range, listing type (buy / rent)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5239512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330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/ target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886200" y="53309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filtered list of matching properties with agent contact details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sample dataset screenshot or table here before presenting.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Module 1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Search &amp; Filters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874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narrow down listings by location, property type, and budget.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2532888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2532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328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form values — location text, property type, listing type (buy/rent), budget range.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191256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1912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19125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filtering and query construction applied against the listing data.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3849624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38496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384962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filtered grid of matching property cards.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" y="4507992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45079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used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291840" y="45079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 components in React with state-driven filtering.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520" y="553212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16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5840" y="55321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code screenshot / output screenshot of the search &amp; filter flow here.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Module 2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Listings &amp; Detail Display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874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verified listings clearly, with full details on request.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2532888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2532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328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records from the listing dataset (or database, once integrated).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191256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1912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19125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listing cards on the results page; navigate to a detail view with full specs and images.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3849624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38496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384962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listings grid and an individual property detail page.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" y="4507992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45079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used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291840" y="45079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React components — PropertyCard and PropertyDetail.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520" y="553212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16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5840" y="55321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implementation screenshot and output of the listings grid and detail page here.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Module 3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Connect &amp; EMI Calculator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874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contact agents directly and estimate loan affordability.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2532888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2532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328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form fields; loan amount, tenure, and interest rate for the EMI calculator.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191256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1912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19125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submit the inquiry; compute EMI using the standard reducing-balance formula.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3849624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38496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384962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confirmation to the user; a monthly EMI estimate.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" y="4507992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45079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used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291840" y="45079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plus the EMI formula: P × r × (1+r)ⁿ ÷ ((1+r)ⁿ − 1).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520" y="553212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16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5840" y="55321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implementation screenshot and output of the inquiry form and EMI calculator here.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37160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used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60520" y="137160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development machine specs — e.g., CPU, RAM]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1938528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environment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2029968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[version], React [version], tested on Chrome, Firefox, and Edge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" y="2596896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68833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688336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property listings described in Slide 11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" y="3255264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34670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parameters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160520" y="3346704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in the ML sense — replaced with defined test scenarios (search, filter, inquiry submission)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1520" y="3913632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0507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/ testing configuration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160520" y="4005072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manual and scripted functional test cases used instead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1520" y="4572000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66344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experiments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160520" y="466344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number] test cases executed across all three modules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1520" y="5230368"/>
            <a:ext cx="10698480" cy="0"/>
          </a:xfrm>
          <a:prstGeom prst="line">
            <a:avLst/>
          </a:prstGeom>
          <a:noFill/>
          <a:ln w="9525">
            <a:solidFill>
              <a:srgbClr val="E5E1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32180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3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160520" y="5321808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correctness, page load time, responsive layout behaviour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758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functional test results rather than model accuracy, since EstateX is not a trained model.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25603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Search &amp; Filters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&amp; Detail 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Connect &amp; EMI Calculator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actual test-case counts from your functional test log before presenting.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758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adapted for a web application in place of ML metrics such as accuracy or F1-score.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1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 across breakpoints (mobile / tablet / desktop)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pass rate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feedback from sample users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411480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9768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 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platform achieved [XX]% of test cases passing on first run, with page load times under [XX] seconds on a standard broadband connection — compared with the fragmented, multi-site search process required by existing approaches.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Working Demo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90956" y="13716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0956" y="1371600"/>
            <a:ext cx="3383280" cy="274320"/>
          </a:xfrm>
          <a:prstGeom prst="rect">
            <a:avLst/>
          </a:prstGeom>
          <a:solidFill>
            <a:srgbClr val="16213D"/>
          </a:solidFill>
          <a:ln/>
        </p:spPr>
      </p:sp>
      <p:sp>
        <p:nvSpPr>
          <p:cNvPr id="8" name="Shape 5"/>
          <p:cNvSpPr/>
          <p:nvPr/>
        </p:nvSpPr>
        <p:spPr>
          <a:xfrm>
            <a:off x="900684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9" name="Shape 6"/>
          <p:cNvSpPr/>
          <p:nvPr/>
        </p:nvSpPr>
        <p:spPr>
          <a:xfrm>
            <a:off x="1046988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0" name="Shape 7"/>
          <p:cNvSpPr/>
          <p:nvPr/>
        </p:nvSpPr>
        <p:spPr>
          <a:xfrm>
            <a:off x="1193292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1" name="Shape 8"/>
          <p:cNvSpPr/>
          <p:nvPr/>
        </p:nvSpPr>
        <p:spPr>
          <a:xfrm>
            <a:off x="973836" y="1783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AF7F1"/>
          </a:solidFill>
          <a:ln w="12700"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" y="1824645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02836" y="13716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02836" y="1371600"/>
            <a:ext cx="3383280" cy="274320"/>
          </a:xfrm>
          <a:prstGeom prst="rect">
            <a:avLst/>
          </a:prstGeom>
          <a:solidFill>
            <a:srgbClr val="16213D"/>
          </a:solidFill>
          <a:ln/>
        </p:spPr>
      </p:sp>
      <p:sp>
        <p:nvSpPr>
          <p:cNvPr id="16" name="Shape 13"/>
          <p:cNvSpPr/>
          <p:nvPr/>
        </p:nvSpPr>
        <p:spPr>
          <a:xfrm>
            <a:off x="4512564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7" name="Shape 14"/>
          <p:cNvSpPr/>
          <p:nvPr/>
        </p:nvSpPr>
        <p:spPr>
          <a:xfrm>
            <a:off x="4658868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8" name="Shape 15"/>
          <p:cNvSpPr/>
          <p:nvPr/>
        </p:nvSpPr>
        <p:spPr>
          <a:xfrm>
            <a:off x="4805172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9" name="Shape 16"/>
          <p:cNvSpPr/>
          <p:nvPr/>
        </p:nvSpPr>
        <p:spPr>
          <a:xfrm>
            <a:off x="4585716" y="1783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AF7F1"/>
          </a:solidFill>
          <a:ln w="12700"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85716" y="17830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402836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14716" y="13716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4716" y="1371600"/>
            <a:ext cx="3383280" cy="274320"/>
          </a:xfrm>
          <a:prstGeom prst="rect">
            <a:avLst/>
          </a:prstGeom>
          <a:solidFill>
            <a:srgbClr val="16213D"/>
          </a:solidFill>
          <a:ln/>
        </p:spPr>
      </p:sp>
      <p:sp>
        <p:nvSpPr>
          <p:cNvPr id="24" name="Shape 21"/>
          <p:cNvSpPr/>
          <p:nvPr/>
        </p:nvSpPr>
        <p:spPr>
          <a:xfrm>
            <a:off x="8124444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25" name="Shape 22"/>
          <p:cNvSpPr/>
          <p:nvPr/>
        </p:nvSpPr>
        <p:spPr>
          <a:xfrm>
            <a:off x="8270748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26" name="Shape 23"/>
          <p:cNvSpPr/>
          <p:nvPr/>
        </p:nvSpPr>
        <p:spPr>
          <a:xfrm>
            <a:off x="8417052" y="14630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27" name="Shape 24"/>
          <p:cNvSpPr/>
          <p:nvPr/>
        </p:nvSpPr>
        <p:spPr>
          <a:xfrm>
            <a:off x="8197596" y="1783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AF7F1"/>
          </a:solidFill>
          <a:ln w="12700"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97596" y="17830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014716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0956" y="34290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0956" y="3429000"/>
            <a:ext cx="3383280" cy="274320"/>
          </a:xfrm>
          <a:prstGeom prst="rect">
            <a:avLst/>
          </a:prstGeom>
          <a:solidFill>
            <a:srgbClr val="16213D"/>
          </a:solidFill>
          <a:ln/>
        </p:spPr>
      </p:sp>
      <p:sp>
        <p:nvSpPr>
          <p:cNvPr id="32" name="Shape 29"/>
          <p:cNvSpPr/>
          <p:nvPr/>
        </p:nvSpPr>
        <p:spPr>
          <a:xfrm>
            <a:off x="900684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33" name="Shape 30"/>
          <p:cNvSpPr/>
          <p:nvPr/>
        </p:nvSpPr>
        <p:spPr>
          <a:xfrm>
            <a:off x="1046988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34" name="Shape 31"/>
          <p:cNvSpPr/>
          <p:nvPr/>
        </p:nvSpPr>
        <p:spPr>
          <a:xfrm>
            <a:off x="1193292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35" name="Shape 32"/>
          <p:cNvSpPr/>
          <p:nvPr/>
        </p:nvSpPr>
        <p:spPr>
          <a:xfrm>
            <a:off x="973836" y="38404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AF7F1"/>
          </a:solidFill>
          <a:ln w="12700"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73836" y="3840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90956" y="5239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inquiry form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402836" y="34290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02836" y="3429000"/>
            <a:ext cx="3383280" cy="274320"/>
          </a:xfrm>
          <a:prstGeom prst="rect">
            <a:avLst/>
          </a:prstGeom>
          <a:solidFill>
            <a:srgbClr val="16213D"/>
          </a:solidFill>
          <a:ln/>
        </p:spPr>
      </p:sp>
      <p:sp>
        <p:nvSpPr>
          <p:cNvPr id="40" name="Shape 37"/>
          <p:cNvSpPr/>
          <p:nvPr/>
        </p:nvSpPr>
        <p:spPr>
          <a:xfrm>
            <a:off x="4512564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41" name="Shape 38"/>
          <p:cNvSpPr/>
          <p:nvPr/>
        </p:nvSpPr>
        <p:spPr>
          <a:xfrm>
            <a:off x="4658868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42" name="Shape 39"/>
          <p:cNvSpPr/>
          <p:nvPr/>
        </p:nvSpPr>
        <p:spPr>
          <a:xfrm>
            <a:off x="4805172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43" name="Shape 40"/>
          <p:cNvSpPr/>
          <p:nvPr/>
        </p:nvSpPr>
        <p:spPr>
          <a:xfrm>
            <a:off x="4585716" y="38404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AF7F1"/>
          </a:solidFill>
          <a:ln w="12700"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85716" y="3840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402836" y="5239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8014716" y="34290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014716" y="3429000"/>
            <a:ext cx="3383280" cy="274320"/>
          </a:xfrm>
          <a:prstGeom prst="rect">
            <a:avLst/>
          </a:prstGeom>
          <a:solidFill>
            <a:srgbClr val="16213D"/>
          </a:solidFill>
          <a:ln/>
        </p:spPr>
      </p:sp>
      <p:sp>
        <p:nvSpPr>
          <p:cNvPr id="48" name="Shape 45"/>
          <p:cNvSpPr/>
          <p:nvPr/>
        </p:nvSpPr>
        <p:spPr>
          <a:xfrm>
            <a:off x="8124444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49" name="Shape 46"/>
          <p:cNvSpPr/>
          <p:nvPr/>
        </p:nvSpPr>
        <p:spPr>
          <a:xfrm>
            <a:off x="8270748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50" name="Shape 47"/>
          <p:cNvSpPr/>
          <p:nvPr/>
        </p:nvSpPr>
        <p:spPr>
          <a:xfrm>
            <a:off x="8417052" y="3520440"/>
            <a:ext cx="73152" cy="73152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51" name="Shape 48"/>
          <p:cNvSpPr/>
          <p:nvPr/>
        </p:nvSpPr>
        <p:spPr>
          <a:xfrm>
            <a:off x="8197596" y="38404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AF7F1"/>
          </a:solidFill>
          <a:ln w="12700"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197596" y="38404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8014716" y="5239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application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show the actual working prototype live during the review, in addition to these screenshots.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4114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platforms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EstateX (proposed)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/ mixed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before publishing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response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indirect / call centre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in-platform messaging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Locality-specific filters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Generic, pan-India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Hyderabad localities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EMI calculator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621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05740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19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consistent responsive design across breakpoints.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reusable components without prop-heavy complexity.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free-text locality data entered by users.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05740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19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 mobile-first CSS grid/flex layout, tested at multiple breakpoints.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small, single-purpose components (PropertyCard, SearchBox).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master locality list to normalize location input.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371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778240" y="1399032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9370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0" y="1399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1847088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18470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 survey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78240" y="1874520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93702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78240" y="18745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2322576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23225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database design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778240" y="2350008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93702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778240" y="23500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" y="2798064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27980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(home, listings, detail)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778240" y="2825496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93702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778240" y="28254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1520" y="3273552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32735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agent connect &amp; EMI calculator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78240" y="3300984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2A365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78240" y="3300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1520" y="3749040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" y="37490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database integration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778240" y="3776472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5C647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778240" y="37764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31520" y="4224528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AF7F1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5840" y="42245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778240" y="4251960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2A365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778240" y="4251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31520" y="4700016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1D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840" y="47000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778240" y="4727448"/>
            <a:ext cx="1737360" cy="329184"/>
          </a:xfrm>
          <a:prstGeom prst="roundRect">
            <a:avLst>
              <a:gd name="adj" fmla="val 138889"/>
            </a:avLst>
          </a:prstGeom>
          <a:solidFill>
            <a:srgbClr val="5C647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778240" y="4727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31520" y="5312664"/>
            <a:ext cx="9784080" cy="502920"/>
          </a:xfrm>
          <a:prstGeom prst="roundRect">
            <a:avLst>
              <a:gd name="adj" fmla="val 14545"/>
            </a:avLst>
          </a:prstGeom>
          <a:solidFill>
            <a:srgbClr val="16213D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05840" y="531266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8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Progress: [XX]%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pending modules (backend API &amp; database integration).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system performance and search response time.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additional experiments with a larger sample of listings.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larger, more realistic dataset of properties.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 and efficiency of search and filtering.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system for public access.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project documentation.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200000">
            <a:off x="-1097280" y="4206240"/>
            <a:ext cx="4206240" cy="4114800"/>
          </a:xfrm>
          <a:prstGeom prst="roundRect">
            <a:avLst>
              <a:gd name="adj" fmla="val 4444"/>
            </a:avLst>
          </a:prstGeom>
          <a:solidFill>
            <a:srgbClr val="B98F4B">
              <a:alpha val="1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9966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search in Hyderabad remains fragmented, unverified, and time-consuming for buyers and renters.</a:t>
            </a:r>
            <a:endParaRPr lang="en-US" sz="1450" dirty="0"/>
          </a:p>
          <a:p>
            <a:pPr marL="342900" indent="-342900" algn="l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EstateX proposes a single, verified platform with structured search, direct agent contact, and an EMI calculator.</a:t>
            </a:r>
            <a:endParaRPr lang="en-US" sz="1450" dirty="0"/>
          </a:p>
          <a:p>
            <a:pPr marL="342900" indent="-342900" algn="l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and core UI are implemented; backend integration is the next milestone.</a:t>
            </a:r>
            <a:endParaRPr lang="en-US" sz="1450" dirty="0"/>
          </a:p>
          <a:p>
            <a:pPr marL="342900" indent="-342900" algn="l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6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testing shows the search, listing, and inquiry flows working as designed across modules.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4389120"/>
            <a:ext cx="9966960" cy="1737360"/>
          </a:xfrm>
          <a:prstGeom prst="roundRect">
            <a:avLst>
              <a:gd name="adj" fmla="val 5263"/>
            </a:avLst>
          </a:prstGeom>
          <a:solidFill>
            <a:srgbClr val="B98F4B">
              <a:alpha val="15000"/>
            </a:srgbClr>
          </a:solidFill>
          <a:ln w="12700">
            <a:solidFill>
              <a:srgbClr val="B98F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4553712"/>
            <a:ext cx="9326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98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statement: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demonstrates the feasibility of addressing the identified problem using the selected methodology, and provides a foundation for further improvement and real-world implementation.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tatex/ppt2/klu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292608"/>
            <a:ext cx="1143000" cy="3849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16213D"/>
          </a:solidFill>
          <a:ln w="19050">
            <a:solidFill>
              <a:srgbClr val="B98F4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1499616"/>
            <a:ext cx="384048" cy="384048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46304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official documentation — https://react.dev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157984"/>
            <a:ext cx="384048" cy="384048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CSS &amp; responsive design guidelines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816352"/>
            <a:ext cx="384048" cy="384048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277977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99acres.com — reference for existing-system comparison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474720"/>
            <a:ext cx="384048" cy="384048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43814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MagicBricks.com — reference for existing-system comparison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4133088"/>
            <a:ext cx="384048" cy="384048"/>
          </a:xfrm>
          <a:prstGeom prst="ellipse">
            <a:avLst/>
          </a:prstGeom>
          <a:solidFill>
            <a:srgbClr val="B98F4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0965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NoBroker.com — reference for existing-system comparison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4791456"/>
            <a:ext cx="384048" cy="384048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7548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any additional research paper, book, or dataset source]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2219</Words>
  <Application>Microsoft Office PowerPoint</Application>
  <PresentationFormat>Widescreen</PresentationFormat>
  <Paragraphs>365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Thirunagari Saikrishna</cp:lastModifiedBy>
  <cp:revision>1</cp:revision>
  <dcterms:created xsi:type="dcterms:W3CDTF">2026-09-15T05:33:01Z</dcterms:created>
  <dcterms:modified xsi:type="dcterms:W3CDTF">2026-09-28T08:30:45Z</dcterms:modified>
</cp:coreProperties>
</file>